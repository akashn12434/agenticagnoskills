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28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117A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1874519"/>
            <a:ext cx="1078992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200" b="1">
                <a:solidFill>
                  <a:srgbClr val="FFFFFF"/>
                </a:solidFill>
                <a:latin typeface="Arial"/>
              </a:rPr>
              <a:t>The New Seven Wonders of the World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3182112"/>
            <a:ext cx="89611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0">
                <a:solidFill>
                  <a:srgbClr val="D5D8DC"/>
                </a:solidFill>
                <a:latin typeface="Arial"/>
              </a:rPr>
              <a:t>An overview presentation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5806440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D5D8DC"/>
                </a:solidFill>
                <a:latin typeface="Arial"/>
              </a:rPr>
              <a:t>2026-05-25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199632"/>
            <a:ext cx="11155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500">
                <a:solidFill>
                  <a:srgbClr val="2E4053"/>
                </a:solidFill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881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C2833"/>
                </a:solidFill>
                <a:latin typeface="Arial"/>
              </a:rPr>
              <a:t>Great Wall of China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170432"/>
            <a:ext cx="1920240" cy="64008"/>
          </a:xfrm>
          <a:prstGeom prst="rect">
            <a:avLst/>
          </a:prstGeom>
          <a:solidFill>
            <a:srgbClr val="117A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04672" y="1572768"/>
            <a:ext cx="10378440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200">
                <a:solidFill>
                  <a:srgbClr val="2E4053"/>
                </a:solidFill>
                <a:latin typeface="Arial"/>
              </a:defRPr>
            </a:pPr>
            <a:r>
              <a:t>★ An ancient series of walls and fortifications.</a:t>
            </a:r>
          </a:p>
          <a:p>
            <a:pPr>
              <a:spcAft>
                <a:spcPts val="900"/>
              </a:spcAft>
              <a:defRPr sz="2200">
                <a:solidFill>
                  <a:srgbClr val="2E4053"/>
                </a:solidFill>
                <a:latin typeface="Arial"/>
              </a:defRPr>
            </a:pPr>
            <a:r>
              <a:t>★ Stretches thousands of miles across northern China.</a:t>
            </a:r>
          </a:p>
          <a:p>
            <a:pPr>
              <a:spcAft>
                <a:spcPts val="900"/>
              </a:spcAft>
              <a:defRPr sz="2200">
                <a:solidFill>
                  <a:srgbClr val="2E4053"/>
                </a:solidFill>
                <a:latin typeface="Arial"/>
              </a:defRPr>
            </a:pPr>
            <a:r>
              <a:t>★ Built to protect against invasions and border control.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199632"/>
            <a:ext cx="11155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500">
                <a:solidFill>
                  <a:srgbClr val="2E4053"/>
                </a:solidFill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881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C2833"/>
                </a:solidFill>
                <a:latin typeface="Arial"/>
              </a:rPr>
              <a:t>Petra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170432"/>
            <a:ext cx="1920240" cy="64008"/>
          </a:xfrm>
          <a:prstGeom prst="rect">
            <a:avLst/>
          </a:prstGeom>
          <a:solidFill>
            <a:srgbClr val="117A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04672" y="1572768"/>
            <a:ext cx="10378440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200">
                <a:solidFill>
                  <a:srgbClr val="2E4053"/>
                </a:solidFill>
                <a:latin typeface="Arial"/>
              </a:defRPr>
            </a:pPr>
            <a:r>
              <a:t>★ Ancient city famous for its rock-cut architecture.</a:t>
            </a:r>
          </a:p>
          <a:p>
            <a:pPr>
              <a:spcAft>
                <a:spcPts val="900"/>
              </a:spcAft>
              <a:defRPr sz="2200">
                <a:solidFill>
                  <a:srgbClr val="2E4053"/>
                </a:solidFill>
                <a:latin typeface="Arial"/>
              </a:defRPr>
            </a:pPr>
            <a:r>
              <a:t>★ Known as the 'Rose City' due to the stone color.</a:t>
            </a:r>
          </a:p>
          <a:p>
            <a:pPr>
              <a:spcAft>
                <a:spcPts val="900"/>
              </a:spcAft>
              <a:defRPr sz="2200">
                <a:solidFill>
                  <a:srgbClr val="2E4053"/>
                </a:solidFill>
                <a:latin typeface="Arial"/>
              </a:defRPr>
            </a:pPr>
            <a:r>
              <a:t>★ Located in Jordan, capital of the Nabataean Kingdom.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199632"/>
            <a:ext cx="11155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500">
                <a:solidFill>
                  <a:srgbClr val="2E4053"/>
                </a:solidFill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881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C2833"/>
                </a:solidFill>
                <a:latin typeface="Arial"/>
              </a:rPr>
              <a:t>Colosseum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170432"/>
            <a:ext cx="1920240" cy="64008"/>
          </a:xfrm>
          <a:prstGeom prst="rect">
            <a:avLst/>
          </a:prstGeom>
          <a:solidFill>
            <a:srgbClr val="117A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04672" y="1572768"/>
            <a:ext cx="10378440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200">
                <a:solidFill>
                  <a:srgbClr val="2E4053"/>
                </a:solidFill>
                <a:latin typeface="Arial"/>
              </a:defRPr>
            </a:pPr>
            <a:r>
              <a:t>★ Iconic amphitheater in the center of Rome, Italy.</a:t>
            </a:r>
          </a:p>
          <a:p>
            <a:pPr>
              <a:spcAft>
                <a:spcPts val="900"/>
              </a:spcAft>
              <a:defRPr sz="2200">
                <a:solidFill>
                  <a:srgbClr val="2E4053"/>
                </a:solidFill>
                <a:latin typeface="Arial"/>
              </a:defRPr>
            </a:pPr>
            <a:r>
              <a:t>★ Largest ancient amphitheater ever built.</a:t>
            </a:r>
          </a:p>
          <a:p>
            <a:pPr>
              <a:spcAft>
                <a:spcPts val="900"/>
              </a:spcAft>
              <a:defRPr sz="2200">
                <a:solidFill>
                  <a:srgbClr val="2E4053"/>
                </a:solidFill>
                <a:latin typeface="Arial"/>
              </a:defRPr>
            </a:pPr>
            <a:r>
              <a:t>★ Used for gladiator contests and public spectacles.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199632"/>
            <a:ext cx="11155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500">
                <a:solidFill>
                  <a:srgbClr val="2E4053"/>
                </a:solidFill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881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C2833"/>
                </a:solidFill>
                <a:latin typeface="Arial"/>
              </a:rPr>
              <a:t>Chichén Itzá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170432"/>
            <a:ext cx="1920240" cy="64008"/>
          </a:xfrm>
          <a:prstGeom prst="rect">
            <a:avLst/>
          </a:prstGeom>
          <a:solidFill>
            <a:srgbClr val="117A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04672" y="1572768"/>
            <a:ext cx="10378440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200">
                <a:solidFill>
                  <a:srgbClr val="2E4053"/>
                </a:solidFill>
                <a:latin typeface="Arial"/>
              </a:defRPr>
            </a:pPr>
            <a:r>
              <a:t>★ A major Mayan city in the Yucatán, Mexico.</a:t>
            </a:r>
          </a:p>
          <a:p>
            <a:pPr>
              <a:spcAft>
                <a:spcPts val="900"/>
              </a:spcAft>
              <a:defRPr sz="2200">
                <a:solidFill>
                  <a:srgbClr val="2E4053"/>
                </a:solidFill>
                <a:latin typeface="Arial"/>
              </a:defRPr>
            </a:pPr>
            <a:r>
              <a:t>★ Features the step-pyramid known as El Castillo.</a:t>
            </a:r>
          </a:p>
          <a:p>
            <a:pPr>
              <a:spcAft>
                <a:spcPts val="900"/>
              </a:spcAft>
              <a:defRPr sz="2200">
                <a:solidFill>
                  <a:srgbClr val="2E4053"/>
                </a:solidFill>
                <a:latin typeface="Arial"/>
              </a:defRPr>
            </a:pPr>
            <a:r>
              <a:t>★ Demonstrates advanced astronomical and architectural knowledge.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199632"/>
            <a:ext cx="11155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500">
                <a:solidFill>
                  <a:srgbClr val="2E4053"/>
                </a:solidFill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881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C2833"/>
                </a:solidFill>
                <a:latin typeface="Arial"/>
              </a:rPr>
              <a:t>Machu Picchu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170432"/>
            <a:ext cx="1920240" cy="64008"/>
          </a:xfrm>
          <a:prstGeom prst="rect">
            <a:avLst/>
          </a:prstGeom>
          <a:solidFill>
            <a:srgbClr val="117A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04672" y="1572768"/>
            <a:ext cx="10378440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200">
                <a:solidFill>
                  <a:srgbClr val="2E4053"/>
                </a:solidFill>
                <a:latin typeface="Arial"/>
              </a:defRPr>
            </a:pPr>
            <a:r>
              <a:t>★ Inca citadel set high in the Andes Mountains, Peru.</a:t>
            </a:r>
          </a:p>
          <a:p>
            <a:pPr>
              <a:spcAft>
                <a:spcPts val="900"/>
              </a:spcAft>
              <a:defRPr sz="2200">
                <a:solidFill>
                  <a:srgbClr val="2E4053"/>
                </a:solidFill>
                <a:latin typeface="Arial"/>
              </a:defRPr>
            </a:pPr>
            <a:r>
              <a:t>★ Built in the 15th century and later abandoned.</a:t>
            </a:r>
          </a:p>
          <a:p>
            <a:pPr>
              <a:spcAft>
                <a:spcPts val="900"/>
              </a:spcAft>
              <a:defRPr sz="2200">
                <a:solidFill>
                  <a:srgbClr val="2E4053"/>
                </a:solidFill>
                <a:latin typeface="Arial"/>
              </a:defRPr>
            </a:pPr>
            <a:r>
              <a:t>★ Renowned for sophisticated dry-stone construction.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199632"/>
            <a:ext cx="11155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500">
                <a:solidFill>
                  <a:srgbClr val="2E4053"/>
                </a:solidFill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881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C2833"/>
                </a:solidFill>
                <a:latin typeface="Arial"/>
              </a:rPr>
              <a:t>Taj Mahal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170432"/>
            <a:ext cx="1920240" cy="64008"/>
          </a:xfrm>
          <a:prstGeom prst="rect">
            <a:avLst/>
          </a:prstGeom>
          <a:solidFill>
            <a:srgbClr val="117A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04672" y="1572768"/>
            <a:ext cx="10378440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200">
                <a:solidFill>
                  <a:srgbClr val="2E4053"/>
                </a:solidFill>
                <a:latin typeface="Arial"/>
              </a:defRPr>
            </a:pPr>
            <a:r>
              <a:t>★ White marble mausoleum in Agra, India.</a:t>
            </a:r>
          </a:p>
          <a:p>
            <a:pPr>
              <a:spcAft>
                <a:spcPts val="900"/>
              </a:spcAft>
              <a:defRPr sz="2200">
                <a:solidFill>
                  <a:srgbClr val="2E4053"/>
                </a:solidFill>
                <a:latin typeface="Arial"/>
              </a:defRPr>
            </a:pPr>
            <a:r>
              <a:t>★ Commissioned by Emperor Shah Jahan for his wife.</a:t>
            </a:r>
          </a:p>
          <a:p>
            <a:pPr>
              <a:spcAft>
                <a:spcPts val="900"/>
              </a:spcAft>
              <a:defRPr sz="2200">
                <a:solidFill>
                  <a:srgbClr val="2E4053"/>
                </a:solidFill>
                <a:latin typeface="Arial"/>
              </a:defRPr>
            </a:pPr>
            <a:r>
              <a:t>★ Symbolizes eternal love and Mughal architecture.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199632"/>
            <a:ext cx="11155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500">
                <a:solidFill>
                  <a:srgbClr val="2E4053"/>
                </a:solidFill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881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C2833"/>
                </a:solidFill>
                <a:latin typeface="Arial"/>
              </a:rPr>
              <a:t>Christ the Redeemer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170432"/>
            <a:ext cx="1920240" cy="64008"/>
          </a:xfrm>
          <a:prstGeom prst="rect">
            <a:avLst/>
          </a:prstGeom>
          <a:solidFill>
            <a:srgbClr val="117A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04672" y="1572768"/>
            <a:ext cx="10378440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200">
                <a:solidFill>
                  <a:srgbClr val="2E4053"/>
                </a:solidFill>
                <a:latin typeface="Arial"/>
              </a:defRPr>
            </a:pPr>
            <a:r>
              <a:t>★ Art Deco statue of Jesus Christ in Rio de Janeiro.</a:t>
            </a:r>
          </a:p>
          <a:p>
            <a:pPr>
              <a:spcAft>
                <a:spcPts val="900"/>
              </a:spcAft>
              <a:defRPr sz="2200">
                <a:solidFill>
                  <a:srgbClr val="2E4053"/>
                </a:solidFill>
                <a:latin typeface="Arial"/>
              </a:defRPr>
            </a:pPr>
            <a:r>
              <a:t>★ Standing atop Mount Corcovado overlooking the city.</a:t>
            </a:r>
          </a:p>
          <a:p>
            <a:pPr>
              <a:spcAft>
                <a:spcPts val="900"/>
              </a:spcAft>
              <a:defRPr sz="2200">
                <a:solidFill>
                  <a:srgbClr val="2E4053"/>
                </a:solidFill>
                <a:latin typeface="Arial"/>
              </a:defRPr>
            </a:pPr>
            <a:r>
              <a:t>★ An iconic symbol of Brazil and Christianity.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199632"/>
            <a:ext cx="11155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500">
                <a:solidFill>
                  <a:srgbClr val="2E4053"/>
                </a:solidFill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881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C2833"/>
                </a:solidFill>
                <a:latin typeface="Arial"/>
              </a:rPr>
              <a:t>Conclusion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170432"/>
            <a:ext cx="1920240" cy="64008"/>
          </a:xfrm>
          <a:prstGeom prst="rect">
            <a:avLst/>
          </a:prstGeom>
          <a:solidFill>
            <a:srgbClr val="117A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04672" y="1572768"/>
            <a:ext cx="10378440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200">
                <a:solidFill>
                  <a:srgbClr val="2E4053"/>
                </a:solidFill>
                <a:latin typeface="Arial"/>
              </a:defRPr>
            </a:pPr>
            <a:r>
              <a:t>★ Humanity's architectural and historical legacy.</a:t>
            </a:r>
          </a:p>
          <a:p>
            <a:pPr>
              <a:spcAft>
                <a:spcPts val="900"/>
              </a:spcAft>
              <a:defRPr sz="2200">
                <a:solidFill>
                  <a:srgbClr val="2E4053"/>
                </a:solidFill>
                <a:latin typeface="Arial"/>
              </a:defRPr>
            </a:pPr>
            <a:r>
              <a:t>★ Preservation for future generations is essential.</a:t>
            </a:r>
          </a:p>
          <a:p>
            <a:pPr>
              <a:spcAft>
                <a:spcPts val="900"/>
              </a:spcAft>
              <a:defRPr sz="2200">
                <a:solidFill>
                  <a:srgbClr val="2E4053"/>
                </a:solidFill>
                <a:latin typeface="Arial"/>
              </a:defRPr>
            </a:pPr>
            <a:r>
              <a:t>★ Thank you for your attention.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199632"/>
            <a:ext cx="11155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500">
                <a:solidFill>
                  <a:srgbClr val="2E4053"/>
                </a:solidFill>
              </a:rPr>
              <a:t>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